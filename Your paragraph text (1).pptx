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" charset="1" panose="00000000000000000000"/>
      <p:regular r:id="rId17"/>
    </p:embeddedFont>
    <p:embeddedFont>
      <p:font typeface="DM Sans Bold" charset="1" panose="00000000000000000000"/>
      <p:regular r:id="rId18"/>
    </p:embeddedFont>
    <p:embeddedFont>
      <p:font typeface="Canva Sans" charset="1" panose="020B0503030501040103"/>
      <p:regular r:id="rId19"/>
    </p:embeddedFont>
    <p:embeddedFont>
      <p:font typeface="Flatory Sans Bold" charset="1" panose="00000000000000000000"/>
      <p:regular r:id="rId20"/>
    </p:embeddedFont>
    <p:embeddedFont>
      <p:font typeface="Canva Sans Bold" charset="1" panose="020B0803030501040103"/>
      <p:regular r:id="rId21"/>
    </p:embeddedFont>
    <p:embeddedFont>
      <p:font typeface="Barlow" charset="1" panose="00000500000000000000"/>
      <p:regular r:id="rId22"/>
    </p:embeddedFont>
    <p:embeddedFont>
      <p:font typeface="Poppins Bold" charset="1" panose="00000800000000000000"/>
      <p:regular r:id="rId23"/>
    </p:embeddedFont>
    <p:embeddedFont>
      <p:font typeface="Poppins" charset="1" panose="00000500000000000000"/>
      <p:regular r:id="rId24"/>
    </p:embeddedFont>
    <p:embeddedFont>
      <p:font typeface="Helvetica World" charset="1" panose="020B0500040000020004"/>
      <p:regular r:id="rId25"/>
    </p:embeddedFont>
    <p:embeddedFont>
      <p:font typeface="Garet" charset="1" panose="00000000000000000000"/>
      <p:regular r:id="rId26"/>
    </p:embeddedFont>
    <p:embeddedFont>
      <p:font typeface="Poppins Ultra-Bold" charset="1" panose="00000900000000000000"/>
      <p:regular r:id="rId27"/>
    </p:embeddedFont>
    <p:embeddedFont>
      <p:font typeface="Garet 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55947" y="3144259"/>
            <a:ext cx="5532053" cy="7142741"/>
          </a:xfrm>
          <a:custGeom>
            <a:avLst/>
            <a:gdLst/>
            <a:ahLst/>
            <a:cxnLst/>
            <a:rect r="r" b="b" t="t" l="l"/>
            <a:pathLst>
              <a:path h="7142741" w="5532053">
                <a:moveTo>
                  <a:pt x="0" y="0"/>
                </a:moveTo>
                <a:lnTo>
                  <a:pt x="5532053" y="0"/>
                </a:lnTo>
                <a:lnTo>
                  <a:pt x="5532053" y="7142741"/>
                </a:lnTo>
                <a:lnTo>
                  <a:pt x="0" y="7142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8805470"/>
            <a:ext cx="3401658" cy="452830"/>
            <a:chOff x="0" y="0"/>
            <a:chExt cx="895910" cy="119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5910" cy="119264"/>
            </a:xfrm>
            <a:custGeom>
              <a:avLst/>
              <a:gdLst/>
              <a:ahLst/>
              <a:cxnLst/>
              <a:rect r="r" b="b" t="t" l="l"/>
              <a:pathLst>
                <a:path h="119264" w="895910">
                  <a:moveTo>
                    <a:pt x="0" y="0"/>
                  </a:moveTo>
                  <a:lnTo>
                    <a:pt x="895910" y="0"/>
                  </a:lnTo>
                  <a:lnTo>
                    <a:pt x="895910" y="119264"/>
                  </a:lnTo>
                  <a:lnTo>
                    <a:pt x="0" y="119264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95910" cy="15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14439" y="6857956"/>
            <a:ext cx="645399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Supervised by: Mr. Tirupati Sahu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6083" y="2729041"/>
            <a:ext cx="5917001" cy="415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8"/>
              </a:lnSpc>
              <a:spcBef>
                <a:spcPct val="0"/>
              </a:spcBef>
            </a:pPr>
            <a:r>
              <a:rPr lang="en-US" sz="246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Major Project-I  (7</a:t>
            </a:r>
            <a:r>
              <a:rPr lang="en-US" sz="246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</a:t>
            </a:r>
            <a:r>
              <a:rPr lang="en-US" sz="246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Semester)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3662" y="5737569"/>
            <a:ext cx="5853392" cy="146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14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Presented by:</a:t>
            </a:r>
          </a:p>
          <a:p>
            <a:pPr algn="l">
              <a:lnSpc>
                <a:spcPts val="2996"/>
              </a:lnSpc>
            </a:pPr>
            <a:r>
              <a:rPr lang="en-US" sz="214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SK Akilur Rehman(23CSE585)</a:t>
            </a:r>
          </a:p>
          <a:p>
            <a:pPr algn="l">
              <a:lnSpc>
                <a:spcPts val="2996"/>
              </a:lnSpc>
            </a:pPr>
            <a:r>
              <a:rPr lang="en-US" sz="214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Priyanka Chhatar (23CSE564) </a:t>
            </a:r>
          </a:p>
          <a:p>
            <a:pPr algn="l">
              <a:lnSpc>
                <a:spcPts val="2996"/>
              </a:lnSpc>
              <a:spcBef>
                <a:spcPct val="0"/>
              </a:spcBef>
            </a:pPr>
            <a:r>
              <a:rPr lang="en-US" sz="214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Sandhyarani Sahu(23CSE558)</a:t>
            </a:r>
          </a:p>
        </p:txBody>
      </p:sp>
      <p:grpSp>
        <p:nvGrpSpPr>
          <p:cNvPr name="Group 10" id="10"/>
          <p:cNvGrpSpPr/>
          <p:nvPr/>
        </p:nvGrpSpPr>
        <p:grpSpPr>
          <a:xfrm rot="-2700000">
            <a:off x="12589265" y="3323377"/>
            <a:ext cx="504343" cy="504343"/>
            <a:chOff x="0" y="0"/>
            <a:chExt cx="132831" cy="1328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831" cy="132831"/>
            </a:xfrm>
            <a:custGeom>
              <a:avLst/>
              <a:gdLst/>
              <a:ahLst/>
              <a:cxnLst/>
              <a:rect r="r" b="b" t="t" l="l"/>
              <a:pathLst>
                <a:path h="132831" w="132831">
                  <a:moveTo>
                    <a:pt x="0" y="0"/>
                  </a:moveTo>
                  <a:lnTo>
                    <a:pt x="132831" y="0"/>
                  </a:lnTo>
                  <a:lnTo>
                    <a:pt x="132831" y="132831"/>
                  </a:lnTo>
                  <a:lnTo>
                    <a:pt x="0" y="13283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2831" cy="170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700000">
            <a:off x="13584015" y="3997968"/>
            <a:ext cx="317690" cy="317690"/>
            <a:chOff x="0" y="0"/>
            <a:chExt cx="83671" cy="836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92865" y="3095910"/>
            <a:ext cx="12025354" cy="152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3924" spc="1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AI Based Downscaling of Satellite Air Quality Maps using Deep Learning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6191" y="2675842"/>
            <a:ext cx="192104" cy="6884083"/>
            <a:chOff x="0" y="0"/>
            <a:chExt cx="50595" cy="1813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" cy="1813092"/>
            </a:xfrm>
            <a:custGeom>
              <a:avLst/>
              <a:gdLst/>
              <a:ahLst/>
              <a:cxnLst/>
              <a:rect r="r" b="b" t="t" l="l"/>
              <a:pathLst>
                <a:path h="1813092" w="50595">
                  <a:moveTo>
                    <a:pt x="0" y="0"/>
                  </a:moveTo>
                  <a:lnTo>
                    <a:pt x="50595" y="0"/>
                  </a:lnTo>
                  <a:lnTo>
                    <a:pt x="50595" y="1813092"/>
                  </a:lnTo>
                  <a:lnTo>
                    <a:pt x="0" y="1813092"/>
                  </a:lnTo>
                  <a:close/>
                </a:path>
              </a:pathLst>
            </a:custGeom>
            <a:solidFill>
              <a:srgbClr val="D966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0595" cy="1860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96191" y="1381125"/>
            <a:ext cx="10437959" cy="103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b="true" sz="9180">
                <a:solidFill>
                  <a:srgbClr val="D96627"/>
                </a:solidFill>
                <a:latin typeface="Flatory Sans Bold"/>
                <a:ea typeface="Flatory Sans Bold"/>
                <a:cs typeface="Flatory Sans Bold"/>
                <a:sym typeface="Flatory Sans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6627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4739" y="2704769"/>
            <a:ext cx="10246485" cy="72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4323" b="true">
                <a:solidFill>
                  <a:srgbClr val="D966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2168" y="3477669"/>
            <a:ext cx="10001981" cy="76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0"/>
              </a:lnSpc>
            </a:pPr>
            <a:r>
              <a:rPr lang="en-US" sz="4450" b="true">
                <a:solidFill>
                  <a:srgbClr val="D966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2.Abstract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30249" y="4285829"/>
            <a:ext cx="14417658" cy="67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3944" b="true">
                <a:solidFill>
                  <a:srgbClr val="D966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1022" y="5010313"/>
            <a:ext cx="14871845" cy="69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4114" b="true">
                <a:solidFill>
                  <a:srgbClr val="D966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4.Technology Used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24739" y="5765145"/>
            <a:ext cx="13048705" cy="68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1"/>
              </a:lnSpc>
            </a:pPr>
            <a:r>
              <a:rPr lang="en-US" sz="4008" b="true">
                <a:solidFill>
                  <a:srgbClr val="D966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5.ER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69634" y="6527889"/>
            <a:ext cx="11921345" cy="70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3"/>
              </a:lnSpc>
            </a:pPr>
            <a:r>
              <a:rPr lang="en-US" sz="4145" b="true">
                <a:solidFill>
                  <a:srgbClr val="D966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6.Flowchart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79302" y="7292447"/>
            <a:ext cx="15295265" cy="68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1"/>
              </a:lnSpc>
            </a:pPr>
            <a:r>
              <a:rPr lang="en-US" sz="4000" b="true">
                <a:solidFill>
                  <a:srgbClr val="D966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7.Challenges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79302" y="8054091"/>
            <a:ext cx="15714023" cy="69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112" b="true">
                <a:solidFill>
                  <a:srgbClr val="D966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8.Future Aspects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26543" y="3056158"/>
            <a:ext cx="13936717" cy="5945292"/>
            <a:chOff x="0" y="0"/>
            <a:chExt cx="3670576" cy="15658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0576" cy="1565838"/>
            </a:xfrm>
            <a:custGeom>
              <a:avLst/>
              <a:gdLst/>
              <a:ahLst/>
              <a:cxnLst/>
              <a:rect r="r" b="b" t="t" l="l"/>
              <a:pathLst>
                <a:path h="1565838" w="3670576">
                  <a:moveTo>
                    <a:pt x="24998" y="0"/>
                  </a:moveTo>
                  <a:lnTo>
                    <a:pt x="3645578" y="0"/>
                  </a:lnTo>
                  <a:cubicBezTo>
                    <a:pt x="3659384" y="0"/>
                    <a:pt x="3670576" y="11192"/>
                    <a:pt x="3670576" y="24998"/>
                  </a:cubicBezTo>
                  <a:lnTo>
                    <a:pt x="3670576" y="1540841"/>
                  </a:lnTo>
                  <a:cubicBezTo>
                    <a:pt x="3670576" y="1554646"/>
                    <a:pt x="3659384" y="1565838"/>
                    <a:pt x="3645578" y="1565838"/>
                  </a:cubicBezTo>
                  <a:lnTo>
                    <a:pt x="24998" y="1565838"/>
                  </a:lnTo>
                  <a:cubicBezTo>
                    <a:pt x="11192" y="1565838"/>
                    <a:pt x="0" y="1554646"/>
                    <a:pt x="0" y="1540841"/>
                  </a:cubicBezTo>
                  <a:lnTo>
                    <a:pt x="0" y="24998"/>
                  </a:lnTo>
                  <a:cubicBezTo>
                    <a:pt x="0" y="11192"/>
                    <a:pt x="11192" y="0"/>
                    <a:pt x="24998" y="0"/>
                  </a:cubicBezTo>
                  <a:close/>
                </a:path>
              </a:pathLst>
            </a:custGeom>
            <a:solidFill>
              <a:srgbClr val="D96627">
                <a:alpha val="1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70576" cy="160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24739" y="3056158"/>
            <a:ext cx="371326" cy="5945292"/>
            <a:chOff x="0" y="0"/>
            <a:chExt cx="97798" cy="15658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798" cy="1565838"/>
            </a:xfrm>
            <a:custGeom>
              <a:avLst/>
              <a:gdLst/>
              <a:ahLst/>
              <a:cxnLst/>
              <a:rect r="r" b="b" t="t" l="l"/>
              <a:pathLst>
                <a:path h="1565838" w="97798">
                  <a:moveTo>
                    <a:pt x="0" y="0"/>
                  </a:moveTo>
                  <a:lnTo>
                    <a:pt x="97798" y="0"/>
                  </a:lnTo>
                  <a:lnTo>
                    <a:pt x="97798" y="1565838"/>
                  </a:lnTo>
                  <a:lnTo>
                    <a:pt x="0" y="1565838"/>
                  </a:lnTo>
                  <a:close/>
                </a:path>
              </a:pathLst>
            </a:custGeom>
            <a:solidFill>
              <a:srgbClr val="D966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7798" cy="1613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24739" y="1637975"/>
            <a:ext cx="10437959" cy="103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b="true" sz="9180">
                <a:solidFill>
                  <a:srgbClr val="D96627"/>
                </a:solidFill>
                <a:latin typeface="Flatory Sans Bold"/>
                <a:ea typeface="Flatory Sans Bold"/>
                <a:cs typeface="Flatory Sans Bold"/>
                <a:sym typeface="Flatory Sans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4866" y="3693448"/>
            <a:ext cx="12752977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52D37"/>
                </a:solidFill>
                <a:latin typeface="Barlow"/>
                <a:ea typeface="Barlow"/>
                <a:cs typeface="Barlow"/>
                <a:sym typeface="Barlow"/>
              </a:rPr>
              <a:t>The Air pollution monitoring is essential for understanding and controlling pollution in urban and regional areas. Sentinel-5P satellite data provides large-scale air quality information, but its coarse spatial resolution makes it difficult to identify hyper-local pollution hotspots. This project uses AI-based downscaling and super-resolution techniques to generate more detailed air quality maps by integrating satellite, ground monitoring, and meteorological data..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26543" y="3056158"/>
            <a:ext cx="13936717" cy="5945292"/>
            <a:chOff x="0" y="0"/>
            <a:chExt cx="3670576" cy="15658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0576" cy="1565838"/>
            </a:xfrm>
            <a:custGeom>
              <a:avLst/>
              <a:gdLst/>
              <a:ahLst/>
              <a:cxnLst/>
              <a:rect r="r" b="b" t="t" l="l"/>
              <a:pathLst>
                <a:path h="1565838" w="3670576">
                  <a:moveTo>
                    <a:pt x="24998" y="0"/>
                  </a:moveTo>
                  <a:lnTo>
                    <a:pt x="3645578" y="0"/>
                  </a:lnTo>
                  <a:cubicBezTo>
                    <a:pt x="3659384" y="0"/>
                    <a:pt x="3670576" y="11192"/>
                    <a:pt x="3670576" y="24998"/>
                  </a:cubicBezTo>
                  <a:lnTo>
                    <a:pt x="3670576" y="1540841"/>
                  </a:lnTo>
                  <a:cubicBezTo>
                    <a:pt x="3670576" y="1554646"/>
                    <a:pt x="3659384" y="1565838"/>
                    <a:pt x="3645578" y="1565838"/>
                  </a:cubicBezTo>
                  <a:lnTo>
                    <a:pt x="24998" y="1565838"/>
                  </a:lnTo>
                  <a:cubicBezTo>
                    <a:pt x="11192" y="1565838"/>
                    <a:pt x="0" y="1554646"/>
                    <a:pt x="0" y="1540841"/>
                  </a:cubicBezTo>
                  <a:lnTo>
                    <a:pt x="0" y="24998"/>
                  </a:lnTo>
                  <a:cubicBezTo>
                    <a:pt x="0" y="11192"/>
                    <a:pt x="11192" y="0"/>
                    <a:pt x="24998" y="0"/>
                  </a:cubicBezTo>
                  <a:close/>
                </a:path>
              </a:pathLst>
            </a:custGeom>
            <a:solidFill>
              <a:srgbClr val="D96627">
                <a:alpha val="1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70576" cy="160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24739" y="3056158"/>
            <a:ext cx="371326" cy="5945292"/>
            <a:chOff x="0" y="0"/>
            <a:chExt cx="97798" cy="15658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798" cy="1565838"/>
            </a:xfrm>
            <a:custGeom>
              <a:avLst/>
              <a:gdLst/>
              <a:ahLst/>
              <a:cxnLst/>
              <a:rect r="r" b="b" t="t" l="l"/>
              <a:pathLst>
                <a:path h="1565838" w="97798">
                  <a:moveTo>
                    <a:pt x="0" y="0"/>
                  </a:moveTo>
                  <a:lnTo>
                    <a:pt x="97798" y="0"/>
                  </a:lnTo>
                  <a:lnTo>
                    <a:pt x="97798" y="1565838"/>
                  </a:lnTo>
                  <a:lnTo>
                    <a:pt x="0" y="1565838"/>
                  </a:lnTo>
                  <a:close/>
                </a:path>
              </a:pathLst>
            </a:custGeom>
            <a:solidFill>
              <a:srgbClr val="D966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7798" cy="1613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24739" y="1637975"/>
            <a:ext cx="10437959" cy="103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b="true" sz="9180">
                <a:solidFill>
                  <a:srgbClr val="D96627"/>
                </a:solidFill>
                <a:latin typeface="Flatory Sans Bold"/>
                <a:ea typeface="Flatory Sans Bold"/>
                <a:cs typeface="Flatory Sans Bold"/>
                <a:sym typeface="Flatory Sans Bold"/>
              </a:rPr>
              <a:t>ABSTRACT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97187" y="3889579"/>
            <a:ext cx="13047174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52D37"/>
                </a:solidFill>
                <a:latin typeface="Barlow"/>
                <a:ea typeface="Barlow"/>
                <a:cs typeface="Barlow"/>
                <a:sym typeface="Barlow"/>
              </a:rPr>
              <a:t>This project proposes an AI-based system to enhance the spatial resolution of Sentinel-5P air quality data. Satellite pollutants such as NO₂, SO₂, CO, O₃, and Aerosol Index are combined with CPCB monitoring data and ERA5 meteorological data. CNN-based Super Resolution, Vision Transformer, and Random Forest models are compared to identify an effective downscaling approach. The resulting high-resolution maps are provided through a FastAPI-based system and GIS-enabled web platform for air quality analysis and decision-making.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62294" y="-868225"/>
            <a:ext cx="8269427" cy="6803120"/>
            <a:chOff x="0" y="0"/>
            <a:chExt cx="2177956" cy="17917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956" cy="1791768"/>
            </a:xfrm>
            <a:custGeom>
              <a:avLst/>
              <a:gdLst/>
              <a:ahLst/>
              <a:cxnLst/>
              <a:rect r="r" b="b" t="t" l="l"/>
              <a:pathLst>
                <a:path h="1791768" w="2177956">
                  <a:moveTo>
                    <a:pt x="70216" y="0"/>
                  </a:moveTo>
                  <a:lnTo>
                    <a:pt x="2107740" y="0"/>
                  </a:lnTo>
                  <a:cubicBezTo>
                    <a:pt x="2126363" y="0"/>
                    <a:pt x="2144222" y="7398"/>
                    <a:pt x="2157390" y="20566"/>
                  </a:cubicBezTo>
                  <a:cubicBezTo>
                    <a:pt x="2170558" y="33734"/>
                    <a:pt x="2177956" y="51593"/>
                    <a:pt x="2177956" y="70216"/>
                  </a:cubicBezTo>
                  <a:lnTo>
                    <a:pt x="2177956" y="1721552"/>
                  </a:lnTo>
                  <a:cubicBezTo>
                    <a:pt x="2177956" y="1740175"/>
                    <a:pt x="2170558" y="1758034"/>
                    <a:pt x="2157390" y="1771202"/>
                  </a:cubicBezTo>
                  <a:cubicBezTo>
                    <a:pt x="2144222" y="1784371"/>
                    <a:pt x="2126363" y="1791768"/>
                    <a:pt x="2107740" y="1791768"/>
                  </a:cubicBezTo>
                  <a:lnTo>
                    <a:pt x="70216" y="1791768"/>
                  </a:lnTo>
                  <a:cubicBezTo>
                    <a:pt x="51593" y="1791768"/>
                    <a:pt x="33734" y="1784371"/>
                    <a:pt x="20566" y="1771202"/>
                  </a:cubicBezTo>
                  <a:cubicBezTo>
                    <a:pt x="7398" y="1758034"/>
                    <a:pt x="0" y="1740175"/>
                    <a:pt x="0" y="1721552"/>
                  </a:cubicBezTo>
                  <a:lnTo>
                    <a:pt x="0" y="70216"/>
                  </a:lnTo>
                  <a:cubicBezTo>
                    <a:pt x="0" y="51593"/>
                    <a:pt x="7398" y="33734"/>
                    <a:pt x="20566" y="20566"/>
                  </a:cubicBezTo>
                  <a:cubicBezTo>
                    <a:pt x="33734" y="7398"/>
                    <a:pt x="51593" y="0"/>
                    <a:pt x="70216" y="0"/>
                  </a:cubicBezTo>
                  <a:close/>
                </a:path>
              </a:pathLst>
            </a:custGeom>
            <a:solidFill>
              <a:srgbClr val="051A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77956" cy="1848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48161" y="4855394"/>
            <a:ext cx="6055896" cy="4704531"/>
            <a:chOff x="0" y="0"/>
            <a:chExt cx="1128683" cy="8768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8683" cy="876819"/>
            </a:xfrm>
            <a:custGeom>
              <a:avLst/>
              <a:gdLst/>
              <a:ahLst/>
              <a:cxnLst/>
              <a:rect r="r" b="b" t="t" l="l"/>
              <a:pathLst>
                <a:path h="876819" w="1128683">
                  <a:moveTo>
                    <a:pt x="54972" y="0"/>
                  </a:moveTo>
                  <a:lnTo>
                    <a:pt x="1073712" y="0"/>
                  </a:lnTo>
                  <a:cubicBezTo>
                    <a:pt x="1104072" y="0"/>
                    <a:pt x="1128683" y="24612"/>
                    <a:pt x="1128683" y="54972"/>
                  </a:cubicBezTo>
                  <a:lnTo>
                    <a:pt x="1128683" y="821848"/>
                  </a:lnTo>
                  <a:cubicBezTo>
                    <a:pt x="1128683" y="852207"/>
                    <a:pt x="1104072" y="876819"/>
                    <a:pt x="1073712" y="876819"/>
                  </a:cubicBezTo>
                  <a:lnTo>
                    <a:pt x="54972" y="876819"/>
                  </a:lnTo>
                  <a:cubicBezTo>
                    <a:pt x="24612" y="876819"/>
                    <a:pt x="0" y="852207"/>
                    <a:pt x="0" y="821848"/>
                  </a:cubicBezTo>
                  <a:lnTo>
                    <a:pt x="0" y="54972"/>
                  </a:lnTo>
                  <a:cubicBezTo>
                    <a:pt x="0" y="24612"/>
                    <a:pt x="24612" y="0"/>
                    <a:pt x="54972" y="0"/>
                  </a:cubicBezTo>
                  <a:close/>
                </a:path>
              </a:pathLst>
            </a:custGeom>
            <a:blipFill>
              <a:blip r:embed="rId2"/>
              <a:stretch>
                <a:fillRect l="-255036" t="-208108" r="-4994" b="-857"/>
              </a:stretch>
            </a:blipFill>
            <a:ln w="171450" cap="rnd">
              <a:solidFill>
                <a:srgbClr val="FF6F15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957403" y="2786867"/>
            <a:ext cx="5581516" cy="3103548"/>
            <a:chOff x="0" y="0"/>
            <a:chExt cx="1654826" cy="920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4826" cy="920150"/>
            </a:xfrm>
            <a:custGeom>
              <a:avLst/>
              <a:gdLst/>
              <a:ahLst/>
              <a:cxnLst/>
              <a:rect r="r" b="b" t="t" l="l"/>
              <a:pathLst>
                <a:path h="920150" w="1654826">
                  <a:moveTo>
                    <a:pt x="59644" y="0"/>
                  </a:moveTo>
                  <a:lnTo>
                    <a:pt x="1595182" y="0"/>
                  </a:lnTo>
                  <a:cubicBezTo>
                    <a:pt x="1628122" y="0"/>
                    <a:pt x="1654826" y="26703"/>
                    <a:pt x="1654826" y="59644"/>
                  </a:cubicBezTo>
                  <a:lnTo>
                    <a:pt x="1654826" y="860506"/>
                  </a:lnTo>
                  <a:cubicBezTo>
                    <a:pt x="1654826" y="893447"/>
                    <a:pt x="1628122" y="920150"/>
                    <a:pt x="1595182" y="920150"/>
                  </a:cubicBezTo>
                  <a:lnTo>
                    <a:pt x="59644" y="920150"/>
                  </a:lnTo>
                  <a:cubicBezTo>
                    <a:pt x="26703" y="920150"/>
                    <a:pt x="0" y="893447"/>
                    <a:pt x="0" y="860506"/>
                  </a:cubicBezTo>
                  <a:lnTo>
                    <a:pt x="0" y="59644"/>
                  </a:lnTo>
                  <a:cubicBezTo>
                    <a:pt x="0" y="26703"/>
                    <a:pt x="26703" y="0"/>
                    <a:pt x="59644" y="0"/>
                  </a:cubicBezTo>
                  <a:close/>
                </a:path>
              </a:pathLst>
            </a:custGeom>
            <a:blipFill>
              <a:blip r:embed="rId2"/>
              <a:stretch>
                <a:fillRect l="-73377" t="-2193" r="-171158" b="-310889"/>
              </a:stretch>
            </a:blipFill>
            <a:ln w="171450" cap="rnd">
              <a:solidFill>
                <a:srgbClr val="FF6F15"/>
              </a:solidFill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65398"/>
            <a:ext cx="5656424" cy="202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40"/>
              </a:lnSpc>
            </a:pPr>
            <a:r>
              <a:rPr lang="en-US" b="true" sz="7009">
                <a:solidFill>
                  <a:srgbClr val="051A36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8838" y="2234885"/>
            <a:ext cx="5656438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  <a:spcBef>
                <a:spcPct val="0"/>
              </a:spcBef>
            </a:pPr>
            <a:r>
              <a:rPr lang="en-US" b="true" sz="2300" spc="1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core gaps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639" y="2758760"/>
            <a:ext cx="7616797" cy="299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atellite air quality data i.e. Sentinel 5P which is spatially coarse often several kilometers per pixel.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000" strike="noStrike" u="none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is makes it impossible to pinpoint hyper local pollution hotspots needed for street or neighborhood level action.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Ground s</a:t>
            </a:r>
            <a:r>
              <a:rPr lang="en-US" sz="2000" strike="noStrike" u="none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tations are accurate but too sparse for continuous spatial coverage.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8838" y="5948362"/>
            <a:ext cx="7616797" cy="299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00" strike="noStrike" u="none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ine grained, high resolution pollution maps for urban &amp; regional analysis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Rel</a:t>
            </a:r>
            <a:r>
              <a:rPr lang="en-US" sz="2000" strike="noStrike" u="none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iable input for government agencies &amp; researchers to make informed decisions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 sc</a:t>
            </a:r>
            <a:r>
              <a:rPr lang="en-US" sz="2000" strike="noStrike" u="none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alable method to fuse satellite, ground station, and weather data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88838" y="5417340"/>
            <a:ext cx="5656438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  <a:spcBef>
                <a:spcPct val="0"/>
              </a:spcBef>
            </a:pPr>
            <a:r>
              <a:rPr lang="en-US" b="true" sz="2300" spc="1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Need Addressed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378082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0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2239" y="2145831"/>
            <a:ext cx="11967805" cy="522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2"/>
              </a:lnSpc>
              <a:spcBef>
                <a:spcPct val="0"/>
              </a:spcBef>
            </a:pPr>
          </a:p>
          <a:p>
            <a:pPr algn="l" marL="589501" indent="-294750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Sentinel-5P – Satellite air quality data</a:t>
            </a:r>
          </a:p>
          <a:p>
            <a:pPr algn="l" marL="589501" indent="-294750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ERA5 – Meteorological/weather data</a:t>
            </a:r>
          </a:p>
          <a:p>
            <a:pPr algn="l" marL="589501" indent="-294750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CPCB – Ground-based air quality monitoring data</a:t>
            </a:r>
          </a:p>
          <a:p>
            <a:pPr algn="l" marL="589501" indent="-294750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CNN Super Resolution – Spatial downscaling</a:t>
            </a:r>
          </a:p>
          <a:p>
            <a:pPr algn="l" marL="589501" indent="-294750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Vision Transformer (ViT) – Deep learning-based downscaling</a:t>
            </a:r>
          </a:p>
          <a:p>
            <a:pPr algn="l" marL="589501" indent="-294750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Random Forest – Machine learning comparison model</a:t>
            </a:r>
          </a:p>
          <a:p>
            <a:pPr algn="l" marL="589501" indent="-294750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FastAPI – REST API backend</a:t>
            </a:r>
          </a:p>
          <a:p>
            <a:pPr algn="l" marL="589501" indent="-294750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Rea</a:t>
            </a:r>
            <a:r>
              <a:rPr lang="en-US" sz="273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ct / Next.js – Web interface</a:t>
            </a:r>
          </a:p>
          <a:p>
            <a:pPr algn="l" marL="589501" indent="-294750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PostgreSQL + PostGIS – Spatial database &amp; GIS</a:t>
            </a:r>
          </a:p>
          <a:p>
            <a:pPr algn="l" marL="589501" indent="-294750" lvl="1">
              <a:lnSpc>
                <a:spcPts val="3822"/>
              </a:lnSpc>
              <a:spcBef>
                <a:spcPct val="0"/>
              </a:spcBef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Regression Metrics – Model evaluation and validation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8756" y="1067036"/>
            <a:ext cx="8105492" cy="93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4"/>
              </a:lnSpc>
              <a:spcBef>
                <a:spcPct val="0"/>
              </a:spcBef>
            </a:pPr>
            <a:r>
              <a:rPr lang="en-US" sz="5517" spc="-42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TECHNOLOGIES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5909" y="229574"/>
            <a:ext cx="6817257" cy="107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3"/>
              </a:lnSpc>
            </a:pPr>
            <a:r>
              <a:rPr lang="en-US" sz="6216">
                <a:solidFill>
                  <a:srgbClr val="F25C00"/>
                </a:solidFill>
                <a:latin typeface="Garet"/>
                <a:ea typeface="Garet"/>
                <a:cs typeface="Garet"/>
                <a:sym typeface="Garet"/>
              </a:rPr>
              <a:t>ER DIAGRAM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016" y="3665690"/>
            <a:ext cx="17578184" cy="4548858"/>
          </a:xfrm>
          <a:custGeom>
            <a:avLst/>
            <a:gdLst/>
            <a:ahLst/>
            <a:cxnLst/>
            <a:rect r="r" b="b" t="t" l="l"/>
            <a:pathLst>
              <a:path h="4548858" w="17578184">
                <a:moveTo>
                  <a:pt x="0" y="0"/>
                </a:moveTo>
                <a:lnTo>
                  <a:pt x="17578184" y="0"/>
                </a:lnTo>
                <a:lnTo>
                  <a:pt x="17578184" y="4548858"/>
                </a:lnTo>
                <a:lnTo>
                  <a:pt x="0" y="4548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7" t="-112889" r="-442" b="-9156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8823" y="26946"/>
            <a:ext cx="604051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Flowchart: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76606">
            <a:off x="-2631017" y="7726570"/>
            <a:ext cx="4714159" cy="4819308"/>
          </a:xfrm>
          <a:custGeom>
            <a:avLst/>
            <a:gdLst/>
            <a:ahLst/>
            <a:cxnLst/>
            <a:rect r="r" b="b" t="t" l="l"/>
            <a:pathLst>
              <a:path h="4819308" w="4714159">
                <a:moveTo>
                  <a:pt x="0" y="0"/>
                </a:moveTo>
                <a:lnTo>
                  <a:pt x="4714159" y="0"/>
                </a:lnTo>
                <a:lnTo>
                  <a:pt x="4714159" y="4819308"/>
                </a:lnTo>
                <a:lnTo>
                  <a:pt x="0" y="4819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4422" y="482224"/>
            <a:ext cx="4692070" cy="79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71"/>
              </a:lnSpc>
              <a:spcBef>
                <a:spcPct val="0"/>
              </a:spcBef>
            </a:pPr>
            <a:r>
              <a:rPr lang="en-US" b="true" sz="4479">
                <a:solidFill>
                  <a:srgbClr val="051A36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CHALLENGES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574424" y="5143500"/>
            <a:ext cx="3656573" cy="5743416"/>
            <a:chOff x="0" y="0"/>
            <a:chExt cx="963048" cy="15126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3048" cy="1512669"/>
            </a:xfrm>
            <a:custGeom>
              <a:avLst/>
              <a:gdLst/>
              <a:ahLst/>
              <a:cxnLst/>
              <a:rect r="r" b="b" t="t" l="l"/>
              <a:pathLst>
                <a:path h="1512669" w="963048">
                  <a:moveTo>
                    <a:pt x="724923" y="0"/>
                  </a:moveTo>
                  <a:lnTo>
                    <a:pt x="963048" y="238125"/>
                  </a:lnTo>
                  <a:lnTo>
                    <a:pt x="963048" y="1274544"/>
                  </a:lnTo>
                  <a:lnTo>
                    <a:pt x="724923" y="1512669"/>
                  </a:lnTo>
                  <a:lnTo>
                    <a:pt x="238125" y="1512669"/>
                  </a:lnTo>
                  <a:lnTo>
                    <a:pt x="0" y="1274544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72492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6B00">
                    <a:alpha val="100000"/>
                  </a:srgbClr>
                </a:gs>
                <a:gs pos="50000">
                  <a:srgbClr val="FF5400">
                    <a:alpha val="100000"/>
                  </a:srgbClr>
                </a:gs>
                <a:gs pos="100000">
                  <a:srgbClr val="FF91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63500" y="6350"/>
              <a:ext cx="836048" cy="1442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7625008">
            <a:off x="16269474" y="-2742813"/>
            <a:ext cx="4714159" cy="4819308"/>
          </a:xfrm>
          <a:custGeom>
            <a:avLst/>
            <a:gdLst/>
            <a:ahLst/>
            <a:cxnLst/>
            <a:rect r="r" b="b" t="t" l="l"/>
            <a:pathLst>
              <a:path h="4819308" w="4714159">
                <a:moveTo>
                  <a:pt x="0" y="0"/>
                </a:moveTo>
                <a:lnTo>
                  <a:pt x="4714159" y="0"/>
                </a:lnTo>
                <a:lnTo>
                  <a:pt x="4714159" y="4819308"/>
                </a:lnTo>
                <a:lnTo>
                  <a:pt x="0" y="4819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579520" y="-2265659"/>
            <a:ext cx="3656573" cy="5743416"/>
            <a:chOff x="0" y="0"/>
            <a:chExt cx="963048" cy="15126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3048" cy="1512669"/>
            </a:xfrm>
            <a:custGeom>
              <a:avLst/>
              <a:gdLst/>
              <a:ahLst/>
              <a:cxnLst/>
              <a:rect r="r" b="b" t="t" l="l"/>
              <a:pathLst>
                <a:path h="1512669" w="963048">
                  <a:moveTo>
                    <a:pt x="724923" y="0"/>
                  </a:moveTo>
                  <a:lnTo>
                    <a:pt x="963048" y="238125"/>
                  </a:lnTo>
                  <a:lnTo>
                    <a:pt x="963048" y="1274544"/>
                  </a:lnTo>
                  <a:lnTo>
                    <a:pt x="724923" y="1512669"/>
                  </a:lnTo>
                  <a:lnTo>
                    <a:pt x="238125" y="1512669"/>
                  </a:lnTo>
                  <a:lnTo>
                    <a:pt x="0" y="1274544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72492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6B00">
                    <a:alpha val="100000"/>
                  </a:srgbClr>
                </a:gs>
                <a:gs pos="50000">
                  <a:srgbClr val="FF5400">
                    <a:alpha val="100000"/>
                  </a:srgbClr>
                </a:gs>
                <a:gs pos="100000">
                  <a:srgbClr val="FF91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63500" y="6350"/>
              <a:ext cx="836048" cy="1442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951391" y="2021187"/>
            <a:ext cx="11445044" cy="472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</a:p>
          <a:p>
            <a:pPr algn="l" marL="520997" indent="-260498" lvl="1">
              <a:lnSpc>
                <a:spcPts val="3378"/>
              </a:lnSpc>
              <a:buFont typeface="Arial"/>
              <a:buChar char="•"/>
            </a:pP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Fusing heterogeneous data (satellite, ground station, weather) with different resolutions and formats</a:t>
            </a:r>
          </a:p>
          <a:p>
            <a:pPr algn="l" marL="520997" indent="-260498" lvl="1">
              <a:lnSpc>
                <a:spcPts val="3378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o-fin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re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ion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tch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ak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round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dation di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ff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cul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</a:p>
          <a:p>
            <a:pPr algn="l" marL="520997" indent="-260498" lvl="1">
              <a:lnSpc>
                <a:spcPts val="3378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electing the best-performing model among CNN, ViT, and Random Forest</a:t>
            </a:r>
          </a:p>
          <a:p>
            <a:pPr algn="l" marL="520997" indent="-260498" lvl="1">
              <a:lnSpc>
                <a:spcPts val="3378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Ensuring accuracy and reliability of downscaled maps against real monitoring data</a:t>
            </a:r>
          </a:p>
          <a:p>
            <a:pPr algn="l">
              <a:lnSpc>
                <a:spcPts val="3378"/>
              </a:lnSpc>
              <a:spcBef>
                <a:spcPct val="0"/>
              </a:spcBef>
            </a:pPr>
          </a:p>
          <a:p>
            <a:pPr algn="l">
              <a:lnSpc>
                <a:spcPts val="3378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8903" y="5871896"/>
            <a:ext cx="3656573" cy="5743416"/>
            <a:chOff x="0" y="0"/>
            <a:chExt cx="963048" cy="1512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048" cy="1512669"/>
            </a:xfrm>
            <a:custGeom>
              <a:avLst/>
              <a:gdLst/>
              <a:ahLst/>
              <a:cxnLst/>
              <a:rect r="r" b="b" t="t" l="l"/>
              <a:pathLst>
                <a:path h="1512669" w="963048">
                  <a:moveTo>
                    <a:pt x="724923" y="0"/>
                  </a:moveTo>
                  <a:lnTo>
                    <a:pt x="963048" y="238125"/>
                  </a:lnTo>
                  <a:lnTo>
                    <a:pt x="963048" y="1274544"/>
                  </a:lnTo>
                  <a:lnTo>
                    <a:pt x="724923" y="1512669"/>
                  </a:lnTo>
                  <a:lnTo>
                    <a:pt x="238125" y="1512669"/>
                  </a:lnTo>
                  <a:lnTo>
                    <a:pt x="0" y="1274544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72492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6B00">
                    <a:alpha val="100000"/>
                  </a:srgbClr>
                </a:gs>
                <a:gs pos="50000">
                  <a:srgbClr val="FF5400">
                    <a:alpha val="100000"/>
                  </a:srgbClr>
                </a:gs>
                <a:gs pos="100000">
                  <a:srgbClr val="FF91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6350"/>
              <a:ext cx="836048" cy="1442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4876606">
            <a:off x="-2631017" y="7726570"/>
            <a:ext cx="4714159" cy="4819308"/>
          </a:xfrm>
          <a:custGeom>
            <a:avLst/>
            <a:gdLst/>
            <a:ahLst/>
            <a:cxnLst/>
            <a:rect r="r" b="b" t="t" l="l"/>
            <a:pathLst>
              <a:path h="4819308" w="4714159">
                <a:moveTo>
                  <a:pt x="0" y="0"/>
                </a:moveTo>
                <a:lnTo>
                  <a:pt x="4714159" y="0"/>
                </a:lnTo>
                <a:lnTo>
                  <a:pt x="4714159" y="4819308"/>
                </a:lnTo>
                <a:lnTo>
                  <a:pt x="0" y="4819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4565" y="647329"/>
            <a:ext cx="5286011" cy="657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06"/>
              </a:lnSpc>
              <a:spcBef>
                <a:spcPct val="0"/>
              </a:spcBef>
            </a:pPr>
            <a:r>
              <a:rPr lang="en-US" b="true" sz="3647">
                <a:solidFill>
                  <a:srgbClr val="FC640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FUTURE ASPECTS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844544" y="128480"/>
            <a:ext cx="3656573" cy="5743416"/>
            <a:chOff x="0" y="0"/>
            <a:chExt cx="963048" cy="15126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3048" cy="1512669"/>
            </a:xfrm>
            <a:custGeom>
              <a:avLst/>
              <a:gdLst/>
              <a:ahLst/>
              <a:cxnLst/>
              <a:rect r="r" b="b" t="t" l="l"/>
              <a:pathLst>
                <a:path h="1512669" w="963048">
                  <a:moveTo>
                    <a:pt x="724923" y="0"/>
                  </a:moveTo>
                  <a:lnTo>
                    <a:pt x="963048" y="238125"/>
                  </a:lnTo>
                  <a:lnTo>
                    <a:pt x="963048" y="1274544"/>
                  </a:lnTo>
                  <a:lnTo>
                    <a:pt x="724923" y="1512669"/>
                  </a:lnTo>
                  <a:lnTo>
                    <a:pt x="238125" y="1512669"/>
                  </a:lnTo>
                  <a:lnTo>
                    <a:pt x="0" y="1274544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72492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6B00">
                    <a:alpha val="100000"/>
                  </a:srgbClr>
                </a:gs>
                <a:gs pos="50000">
                  <a:srgbClr val="FF5400">
                    <a:alpha val="100000"/>
                  </a:srgbClr>
                </a:gs>
                <a:gs pos="100000">
                  <a:srgbClr val="FF91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63500" y="6350"/>
              <a:ext cx="836048" cy="1442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7625008">
            <a:off x="16269474" y="-2742813"/>
            <a:ext cx="4714159" cy="4819308"/>
          </a:xfrm>
          <a:custGeom>
            <a:avLst/>
            <a:gdLst/>
            <a:ahLst/>
            <a:cxnLst/>
            <a:rect r="r" b="b" t="t" l="l"/>
            <a:pathLst>
              <a:path h="4819308" w="4714159">
                <a:moveTo>
                  <a:pt x="0" y="0"/>
                </a:moveTo>
                <a:lnTo>
                  <a:pt x="4714159" y="0"/>
                </a:lnTo>
                <a:lnTo>
                  <a:pt x="4714159" y="4819308"/>
                </a:lnTo>
                <a:lnTo>
                  <a:pt x="0" y="4819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22967" y="1983335"/>
            <a:ext cx="10047980" cy="373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183" indent="-284092" lvl="1">
              <a:lnSpc>
                <a:spcPts val="3684"/>
              </a:lnSpc>
              <a:spcBef>
                <a:spcPct val="0"/>
              </a:spcBef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pollution alert sys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 for high-risk zones</a:t>
            </a:r>
          </a:p>
          <a:p>
            <a:pPr algn="l" marL="568183" indent="-284092" lvl="1">
              <a:lnSpc>
                <a:spcPts val="3684"/>
              </a:lnSpc>
              <a:spcBef>
                <a:spcPct val="0"/>
              </a:spcBef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xtend model to more pollutants and finer time resolution</a:t>
            </a:r>
          </a:p>
          <a:p>
            <a:pPr algn="l" marL="568183" indent="-284092" lvl="1">
              <a:lnSpc>
                <a:spcPts val="3684"/>
              </a:lnSpc>
              <a:spcBef>
                <a:spcPct val="0"/>
              </a:spcBef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on 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(AW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/GCP)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for 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ala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nat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nw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 co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age.</a:t>
            </a:r>
          </a:p>
          <a:p>
            <a:pPr algn="l" marL="568183" indent="-284092" lvl="1">
              <a:lnSpc>
                <a:spcPts val="3684"/>
              </a:lnSpc>
              <a:spcBef>
                <a:spcPct val="0"/>
              </a:spcBef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Mobile app for citizens &amp; policymakers with live AQI maps</a:t>
            </a:r>
          </a:p>
          <a:p>
            <a:pPr algn="l">
              <a:lnSpc>
                <a:spcPts val="368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F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1878" y="-215305"/>
            <a:ext cx="1500578" cy="10789378"/>
            <a:chOff x="0" y="0"/>
            <a:chExt cx="395214" cy="2841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14" cy="2841647"/>
            </a:xfrm>
            <a:custGeom>
              <a:avLst/>
              <a:gdLst/>
              <a:ahLst/>
              <a:cxnLst/>
              <a:rect r="r" b="b" t="t" l="l"/>
              <a:pathLst>
                <a:path h="2841647" w="395214">
                  <a:moveTo>
                    <a:pt x="0" y="0"/>
                  </a:moveTo>
                  <a:lnTo>
                    <a:pt x="395214" y="0"/>
                  </a:lnTo>
                  <a:lnTo>
                    <a:pt x="395214" y="2841647"/>
                  </a:lnTo>
                  <a:lnTo>
                    <a:pt x="0" y="2841647"/>
                  </a:lnTo>
                  <a:close/>
                </a:path>
              </a:pathLst>
            </a:custGeom>
            <a:solidFill>
              <a:srgbClr val="F25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14" cy="2879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16481" y="4855534"/>
            <a:ext cx="7842819" cy="288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16"/>
              </a:lnSpc>
            </a:pPr>
            <a:r>
              <a:rPr lang="en-US" sz="16869">
                <a:solidFill>
                  <a:srgbClr val="F25C00"/>
                </a:solidFill>
                <a:latin typeface="Garet"/>
                <a:ea typeface="Garet"/>
                <a:cs typeface="Garet"/>
                <a:sym typeface="Garet"/>
              </a:rPr>
              <a:t>THANK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6894190"/>
            <a:ext cx="8115300" cy="236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319"/>
              </a:lnSpc>
            </a:pPr>
            <a:r>
              <a:rPr lang="en-US" b="true" sz="13799">
                <a:solidFill>
                  <a:srgbClr val="F25C00"/>
                </a:solidFill>
                <a:latin typeface="Garet Bold"/>
                <a:ea typeface="Garet Bold"/>
                <a:cs typeface="Garet Bold"/>
                <a:sym typeface="Garet Bold"/>
              </a:rPr>
              <a:t>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DAHAMxhMpKE</dc:identifier>
  <dcterms:modified xsi:type="dcterms:W3CDTF">2011-08-01T06:04:30Z</dcterms:modified>
  <cp:revision>1</cp:revision>
  <dc:title>Your paragraph text</dc:title>
</cp:coreProperties>
</file>